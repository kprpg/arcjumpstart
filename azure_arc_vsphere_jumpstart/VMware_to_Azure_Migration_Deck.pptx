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31520"/>
            <a:ext cx="201168" cy="5303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914400"/>
            <a:ext cx="88696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VMware to Azure Migration</a:t>
            </a:r>
          </a:p>
          <a:p>
            <a:pPr>
              <a:spcBef>
                <a:spcPts val="800"/>
              </a:spcBef>
              <a:defRPr sz="1700">
                <a:solidFill>
                  <a:srgbClr val="DBE7F5"/>
                </a:solidFill>
                <a:latin typeface="Aptos"/>
              </a:defRPr>
            </a:pPr>
            <a:r>
              <a:t>Executive and technical decision deck built from the VMware-to-Azure eBook and Microsoft Learn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" y="2743200"/>
            <a:ext cx="3657600" cy="512064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286207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Business leaders + technical decision makers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611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Why customers move from VMware to Azure now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When to choose Azure VMware Solution, Azure VMs/PaaS, Azure Arc, or Azure Virtual Desktop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How to structure discovery, landing zones, migration waves, and cost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188720"/>
            <a:ext cx="3886200" cy="105156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2671" y="1298448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Primary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1" y="16459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The Ultimate Guide to VMware Migration and Modernization on Azure (2025 eBook)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468880"/>
            <a:ext cx="3886200" cy="196596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62671" y="2578608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Official Microsoft guidance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2926080"/>
            <a:ext cx="3611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Azure Migrate start-here for VMware, business case guidance, Azure VMware Solution landing zone guidance, and Well-Architected Azure VMware Solution migration content.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VMware-to-Azure eBook (2025) and Microsoft Learn Azure Migrate / Azure VMware Solution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How to use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The first section is tuned for business outcomes; the second turns those choices into a migration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74720" cy="214884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9385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Business leaders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Focus on urgency, target-state options, financial outcomes, risk reduction, and phased investment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214884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9385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Technical decision makers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2860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Focus on discovery, assessment, target architecture, landing zone preparation, migration tooling, and hybrid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828800"/>
            <a:ext cx="3474720" cy="214884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19385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Shared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2860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Decide workload placement, sequencing, governance, networking, identity, and cost controls before execution begins.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0241280" cy="137160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52C"/>
                </a:solidFill>
                <a:latin typeface="Aptos"/>
              </a:defRPr>
            </a:pPr>
            <a:r>
              <a:t>Use the executive slides to align on strategy and funding.</a:t>
            </a:r>
          </a:p>
          <a:p>
            <a:pPr>
              <a:spcAft>
                <a:spcPts val="800"/>
              </a:spcAft>
              <a:defRPr sz="1700">
                <a:solidFill>
                  <a:srgbClr val="1C252C"/>
                </a:solidFill>
                <a:latin typeface="Aptos"/>
              </a:defRPr>
            </a:pPr>
            <a:r>
              <a:t>Use the technical slides to validate feasibility, dependencies, and migration waves.</a:t>
            </a:r>
          </a:p>
          <a:p>
            <a:pPr>
              <a:spcAft>
                <a:spcPts val="800"/>
              </a:spcAft>
              <a:defRPr sz="1700">
                <a:solidFill>
                  <a:srgbClr val="1C252C"/>
                </a:solidFill>
                <a:latin typeface="Aptos"/>
              </a:defRPr>
            </a:pPr>
            <a:r>
              <a:t>Use the final action plan as the handoff into Azure Migrate and landing zone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Deck structure derived from the eBook chapters plus Microsoft Learn migration workflow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Azure supports more than one VMware migration lane; most enterprises use a mix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9728" cy="1325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3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Azure VMware Solution, Azure VMs/PaaS, and hybrid extension with Azure Arc.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109728" cy="13258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19659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298%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46888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Composite ROI reported in the Forrester study cited by the eBook for Azure VMware 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109728" cy="1325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19659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$5.1M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46888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Reduced datacenter TCO cited in the eBook's featured value proof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23960" y="1828800"/>
            <a:ext cx="109728" cy="1325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25128" y="19659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60+ regions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46888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Global Azure footprint supports resilience, business continuity, and capacity planning.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657600"/>
            <a:ext cx="10241280" cy="201168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Choose Azure VMware Solution when speed, low disruption, and VMware operating symmetry matter most.</a:t>
            </a:r>
          </a:p>
          <a:p>
            <a:pPr>
              <a:spcAft>
                <a:spcPts val="8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Choose Azure IaaS/PaaS when you want to reduce VMware dependency and modernize apps, databases, or VDI over time.</a:t>
            </a:r>
          </a:p>
          <a:p>
            <a:pPr>
              <a:spcAft>
                <a:spcPts val="8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Keep on-premises vSphere connected with Azure Arc when some workloads must stay put but still need Azure governance, security, and lifecycle controls.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pages 4-6, 20-21; Microsoft Learn business case and Azure VMware Solution overview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868680"/>
            <a:ext cx="164592" cy="4389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Business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1965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BE7F5"/>
                </a:solidFill>
                <a:latin typeface="Aptos"/>
              </a:defRPr>
            </a:pPr>
            <a:r>
              <a:t>Business outcome framing, portfolio choices, and economics for VMware-to-Azure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Section transition for mixed executive and technical audiences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Why act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The eBook frames migration as a modernization decision, not just a hosting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  <a:latin typeface="Aptos"/>
              </a:defRPr>
            </a:pPr>
            <a:r>
              <a:t>Business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  <a:latin typeface="Aptos"/>
              </a:defRPr>
            </a:pPr>
            <a:r>
              <a:t>Azure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5332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Aging infrastructure, security exposure, and datacenter cost pressure make status quo harder to justify.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AI readiness increases demand for scalable infrastructure, data services, and cloud-adjacent innovation.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Leadership teams want faster regional expansion, merger support, and resilience without new hardware cycles.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Cloud agility with elastic capacity and global reach.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Code-to-cloud security through Defender for Cloud, Azure Firewall, and policy-driven governance.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Licensing and commercial levers such as Azure Hybrid Benefit, reserved capacity, and Extended Security Updates in Azure.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pages 3-6 and 20; Microsoft Learn business case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Choose the right migration 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Microsoft guidance and the eBook both emphasize that there is no single default target for every VMware workload.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103120" cy="502920"/>
          </a:xfrm>
          <a:prstGeom prst="rect">
            <a:avLst/>
          </a:prstGeom>
          <a:solidFill>
            <a:srgbClr val="0B2144"/>
          </a:solidFill>
          <a:ln>
            <a:solidFill>
              <a:srgbClr val="0B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1956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2377440" cy="502920"/>
          </a:xfrm>
          <a:prstGeom prst="rect">
            <a:avLst/>
          </a:prstGeom>
          <a:solidFill>
            <a:srgbClr val="0B2144"/>
          </a:solidFill>
          <a:ln>
            <a:solidFill>
              <a:srgbClr val="0B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2" y="1938528"/>
            <a:ext cx="2231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Best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828800"/>
            <a:ext cx="2926080" cy="502920"/>
          </a:xfrm>
          <a:prstGeom prst="rect">
            <a:avLst/>
          </a:prstGeom>
          <a:solidFill>
            <a:srgbClr val="0B2144"/>
          </a:solidFill>
          <a:ln>
            <a:solidFill>
              <a:srgbClr val="0B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1938528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you 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200400" cy="502920"/>
          </a:xfrm>
          <a:prstGeom prst="rect">
            <a:avLst/>
          </a:prstGeom>
          <a:solidFill>
            <a:srgbClr val="0B2144"/>
          </a:solidFill>
          <a:ln>
            <a:solidFill>
              <a:srgbClr val="0B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2" y="1938528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Tradeoff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95728"/>
            <a:ext cx="21031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468880"/>
            <a:ext cx="1956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Azure VMware 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395728"/>
            <a:ext cx="23774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468880"/>
            <a:ext cx="22311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Fast datacenter exit, minimal refactoring, preserve VMware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395728"/>
            <a:ext cx="29260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2468880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vSphere symmetry, HCX/vMotion paths, Azure service adjacency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395728"/>
            <a:ext cx="32004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2468880"/>
            <a:ext cx="30540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Higher VMware affinity remains in target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00400"/>
            <a:ext cx="210312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273552"/>
            <a:ext cx="1956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Azure VMs + PaaS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200400"/>
            <a:ext cx="237744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16352" y="3273552"/>
            <a:ext cx="22311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Intentional modernization of apps, databases, and operations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200400"/>
            <a:ext cx="292608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93792" y="3273552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No VMware license dependency, native Azure services, easier long-term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200400"/>
            <a:ext cx="320040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9872" y="3273552"/>
            <a:ext cx="30540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Requires more planning, landing zone maturity, and app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05072"/>
            <a:ext cx="21031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4078224"/>
            <a:ext cx="1956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Azure Arc-enabled VMware vSphere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005072"/>
            <a:ext cx="23774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16352" y="4078224"/>
            <a:ext cx="22311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Workloads staying on-premises or moving in phases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4005072"/>
            <a:ext cx="29260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93792" y="4078224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Azure governance, RBAC, inventory, policy, and lifecycle operations over vSphere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4005072"/>
            <a:ext cx="32004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19872" y="4078224"/>
            <a:ext cx="30540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Not a full migration target by itself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809744"/>
            <a:ext cx="210312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4882896"/>
            <a:ext cx="19568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Azure Virtual Desktop / Horizon Cloud on Azure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809744"/>
            <a:ext cx="237744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16352" y="4882896"/>
            <a:ext cx="22311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VDI transformation or capacity expansion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4809744"/>
            <a:ext cx="292608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93792" y="4882896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Cloud-hosted desktops, right-sizing, GPU options, simpler scaling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4809744"/>
            <a:ext cx="3200400" cy="804672"/>
          </a:xfrm>
          <a:prstGeom prst="rect">
            <a:avLst/>
          </a:prstGeom>
          <a:solidFill>
            <a:srgbClr val="F2F6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19872" y="4882896"/>
            <a:ext cx="30540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52C"/>
                </a:solidFill>
                <a:latin typeface="Aptos"/>
              </a:defRPr>
            </a:pPr>
            <a:r>
              <a:t>Separate end-user compute workstream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pages 4, 10, 16, 18-19; Microsoft Learn start-here and AVS workload guidance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868680"/>
            <a:ext cx="164592" cy="438912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Technical decision makers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1965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BE7F5"/>
                </a:solidFill>
                <a:latin typeface="Aptos"/>
              </a:defRPr>
            </a:pPr>
            <a:r>
              <a:t>Discovery, landing-zone preparation, migration waves, and hybrid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Section transition for mixed executive and technical audiences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Technical migration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Microsoft Learn's VMware migration map aligns closely with the eBook: discover, assess, build the case, prepare the landing zone, then migrate.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920240"/>
            <a:ext cx="2011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029968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560320"/>
            <a:ext cx="1682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1.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44368"/>
            <a:ext cx="1682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4A5B"/>
                </a:solidFill>
                <a:latin typeface="Aptos"/>
              </a:defRPr>
            </a:pPr>
            <a:r>
              <a:t>Use Azure Migrate appliance discovery or RVTools XLSX import to inventory servers.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1920240"/>
            <a:ext cx="2011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90672" y="2029968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2103120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560320"/>
            <a:ext cx="1682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2. Map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944368"/>
            <a:ext cx="1682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4A5B"/>
                </a:solidFill>
                <a:latin typeface="Aptos"/>
              </a:defRPr>
            </a:pPr>
            <a:r>
              <a:t>Use agentless or agent-based dependency analysis to define application groups and wave boundaries.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1920240"/>
            <a:ext cx="2011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66944" y="2029968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76672" y="2103120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560320"/>
            <a:ext cx="1682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3. Build the business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944368"/>
            <a:ext cx="1682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4A5B"/>
                </a:solidFill>
                <a:latin typeface="Aptos"/>
              </a:defRPr>
            </a:pPr>
            <a:r>
              <a:t>Compare Azure VMs, AVS, and modernization options with TCO and readiness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1920240"/>
            <a:ext cx="2011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43216" y="2029968"/>
            <a:ext cx="384048" cy="38404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52944" y="2103120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560320"/>
            <a:ext cx="1682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4. Assess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944368"/>
            <a:ext cx="1682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4A5B"/>
                </a:solidFill>
                <a:latin typeface="Aptos"/>
              </a:defRPr>
            </a:pPr>
            <a:r>
              <a:t>Identify blockers, sizing recommendations, cost estimates, and conditional readiness.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1920240"/>
            <a:ext cx="2011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619488" y="2029968"/>
            <a:ext cx="384048" cy="38404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29216" y="2103120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560320"/>
            <a:ext cx="1682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5. Migrate and 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944368"/>
            <a:ext cx="1682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4A5B"/>
                </a:solidFill>
                <a:latin typeface="Aptos"/>
              </a:defRPr>
            </a:pPr>
            <a:r>
              <a:t>Use HCX/vMotion for AVS or Azure Migrate replication for Azure VMs, then validate and optimize.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Microsoft Learn start-here for VMware migration and Azure Migrate planning guidance; eBook pages 14-15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Target-state architecture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Technical leaders should decide placement by application need, operational model, and modernization appetite.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99"/>
                </a:solidFill>
                <a:latin typeface="Aptos"/>
              </a:defRPr>
            </a:pPr>
            <a:r>
              <a:t>Keep VMware operating symmetry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99"/>
                </a:solidFill>
                <a:latin typeface="Aptos"/>
              </a:defRPr>
            </a:pPr>
            <a:r>
              <a:t>Move toward native Azure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5332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Land selected workloads in Azure VMware Solution private clouds when vSphere consistency and fast migration matter most.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Connect on-premises vSphere to Azure through ExpressRoute or VPN.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Attach Azure-native services over time for monitoring, security, backup, data, and application evolution.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Use Azure Migrate assessment data to identify candidates for Azure VMs, Azure SQL, App Service, AKS, or Azure Virtual Desktop.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Use application groups and dependency maps to split quick wins from harder refactors.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Treat AVS and Azure-native landing zones as complementary, not mutually exclusive.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pages 10-13; Microsoft Learn business case overview and AVS workload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Azure VMware Solution landing zone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Official guidance is explicit: the network and platform foundations need to be in place before migration waves begin.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93776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Choose subscription, resource group, region, and naming strategy early.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Estimate host count and request AVS host quota in the target subscription.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Reserve a non-overlapping /22 CIDR for AVS private cloud management.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Deploy or identify the Azure virtual network and gateway needed for connectivity.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Define NSX-T segments, route propagation, and firewall rules before cutover.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50292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2048256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8C00"/>
                </a:solidFill>
                <a:latin typeface="Aptos"/>
              </a:defRPr>
            </a:pPr>
            <a:r>
              <a:t>Shared platform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487168"/>
            <a:ext cx="4526280" cy="265176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52C"/>
                </a:solidFill>
                <a:latin typeface="Aptos"/>
              </a:defRPr>
            </a:pPr>
            <a:r>
              <a:t>Platform landing zones provide identity, network, policy, security, and monitoring services.</a:t>
            </a:r>
          </a:p>
          <a:p>
            <a:pPr>
              <a:spcAft>
                <a:spcPts val="800"/>
              </a:spcAft>
              <a:defRPr sz="1500">
                <a:solidFill>
                  <a:srgbClr val="1C252C"/>
                </a:solidFill>
                <a:latin typeface="Aptos"/>
              </a:defRPr>
            </a:pPr>
            <a:r>
              <a:t>Application landing zones give workload teams a governed place to consume those services.</a:t>
            </a:r>
          </a:p>
          <a:p>
            <a:pPr>
              <a:spcAft>
                <a:spcPts val="800"/>
              </a:spcAft>
              <a:defRPr sz="1500">
                <a:solidFill>
                  <a:srgbClr val="1C252C"/>
                </a:solidFill>
                <a:latin typeface="Aptos"/>
              </a:defRPr>
            </a:pPr>
            <a:r>
              <a:t>Treat AVS integration with landing zones as a joint platform-and-workload design exercise.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Microsoft Learn CAF ready/migrate for Azure VMware Solution and landing-zone integration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Wave planning and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The first migration wave should prove connectivity, operational runbooks, rollback, and validation criteria before scale-out.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245059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240280"/>
            <a:ext cx="2450592" cy="16459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252374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907792"/>
            <a:ext cx="20299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Low-risk app group, validate network path, identity, monitoring, backup, and rollback.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2240280"/>
            <a:ext cx="245059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30168" y="2240280"/>
            <a:ext cx="2450592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252374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Factory wave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907792"/>
            <a:ext cx="20299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Move straightforward VMs or dev/test groups to establish throughput and team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240280"/>
            <a:ext cx="245059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91656" y="2240280"/>
            <a:ext cx="2450592" cy="1645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252374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Factory wave 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907792"/>
            <a:ext cx="20299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Migrate business-critical groups using established templates, cutover playbooks, and approval gates.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2240280"/>
            <a:ext cx="245059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53144" y="2240280"/>
            <a:ext cx="2450592" cy="164592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17736" y="252374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144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907792"/>
            <a:ext cx="20299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Right-size, attach Azure services, decommission stranded infrastructure, and revisit modernization candidates.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754880"/>
            <a:ext cx="10241280" cy="91440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52C"/>
                </a:solidFill>
                <a:latin typeface="Aptos"/>
              </a:defRPr>
            </a:pPr>
            <a:r>
              <a:t>Tooling by path: HCX / vMotion for AVS rehosting, Azure Migrate appliance + replication for Azure VMs, Azure Arc for hybrid visibility and control.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pages 14-16; Microsoft Learn server migration overview and VMware migration start-here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Hybrid operations with Azure Arc-enabled VMware vSphere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Arc is the bridge for phased migration programs and for workloads that must remain in vSphere for longer.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  <a:latin typeface="Aptos"/>
              </a:defRPr>
            </a:pPr>
            <a:r>
              <a:t>What Arc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  <a:latin typeface="Aptos"/>
              </a:defRPr>
            </a:pPr>
            <a:r>
              <a:t>Where it 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5332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Inventory and register vSphere resources in Azure at scale.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Apply consistent RBAC, governance, and Azure management workflows.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Create, resize, delete, and power-manage VMware VMs through Azure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Supports hybrid estates where not every workload moves on day one.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Lets platform teams extend governance before, during, and after migration waves.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Creates a cleaner handoff between infrastructure teams and application owners.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pages 16-17 and Azure Arc-enabled VMware vSphere documentation referenced by the 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VDI and end-user compute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The eBook treats VDI as a distinct modernization lane, not merely another VM migration wave.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99"/>
                </a:solidFill>
                <a:latin typeface="Aptos"/>
              </a:defRPr>
            </a:pPr>
            <a:r>
              <a:t>Azure Virtual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99"/>
                </a:solidFill>
                <a:latin typeface="Aptos"/>
              </a:defRPr>
            </a:pPr>
            <a:r>
              <a:t>VMware Horizon Cloud on Azure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5332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Use cloud-hosted desktops with centralized Azure management, security, and elastic scaling.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Right-size hosts, shut them down when idle, and add GPU-backed pools for design or engineering workloads.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Good fit when you want Microsoft-managed desktop services and tighter Azure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Preserves Horizon-centric administration with minimal Azure expertise required.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Can pair with Azure Virtual Desktop to combine VMware operational familiarity with Azure infrastructure.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Useful when desktop ops teams want a VMware-first management experience during transition.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pages 18-19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Economics and optimization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Use the business case to compare on-premises costs against Azure VMs, Azure VMware Solution, and modernization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972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AHB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Use Azure Hybrid Benefit for Windows Server and SQL Server to lower compute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783080"/>
            <a:ext cx="109728" cy="1234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8" y="19202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4231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t>Lock in pricing for steady-state workloads with reserved capacity where utilization is predictable.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109728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ESU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51678"/>
            <a:ext cx="25420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rPr dirty="0"/>
              <a:t>Use Extended Security Updates in Azure for older Windows Server and SQL Server estates when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1783080"/>
            <a:ext cx="109728" cy="1234440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62288" y="19202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144"/>
                </a:solidFill>
                <a:latin typeface="Aptos Display"/>
              </a:defRPr>
            </a:pPr>
            <a:r>
              <a:t>Right-size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40864"/>
            <a:ext cx="2377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4A5B"/>
                </a:solidFill>
                <a:latin typeface="Aptos"/>
              </a:defRPr>
            </a:pPr>
            <a:r>
              <a:rPr dirty="0"/>
              <a:t>Use Azure Migrate assessment data to resize compute based on actual CPU, memory, and storage usage.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383280"/>
            <a:ext cx="10378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6576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  <a:latin typeface="Aptos"/>
              </a:defRPr>
            </a:pPr>
            <a:r>
              <a:t>Business case viewpoints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39"/>
            <a:ext cx="4572000" cy="132588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Compare on-premises TCO against Azure VMs, AVS, and modernization-to-PaaS scenarios.</a:t>
            </a:r>
          </a:p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Include savings drivers such as license reuse, security updates, and operating model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6576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  <a:latin typeface="Aptos"/>
              </a:defRPr>
            </a:pPr>
            <a:r>
              <a:t>What to avoid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977639"/>
            <a:ext cx="4572000" cy="132588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Do not price migration only as infrastructure replication; account for stranded assets, skill transitions, and decommission timing.</a:t>
            </a:r>
          </a:p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Do not default every workload to the same target if supportability or cost outcomes differ.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eBook page 20; Microsoft Learn business case and VMware migration assessment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Common risks and mitigation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These are the issues that most often derail VMware-to-Azure programs when they are discovered too 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  <a:latin typeface="Aptos"/>
              </a:defRPr>
            </a:pPr>
            <a:r>
              <a:t>Risk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7451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  <a:latin typeface="Aptos"/>
              </a:defRPr>
            </a:pPr>
            <a:r>
              <a:t>Mitigations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53328" y="2148840"/>
            <a:ext cx="5074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Unmapped dependencies create broken application cutovers and hidden downtime.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Overlapping IP ranges or late network design delay AVS connectivity and testing.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Unclear workload placement rules cause rework across AVS, Azure VMs, and modernization teams.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359152"/>
            <a:ext cx="4663440" cy="34747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Use dependency analysis and application grouping before wave scheduling.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Lock landing zone, identity, route, firewall, and CIDR decisions before pilot migration.</a:t>
            </a:r>
          </a:p>
          <a:p>
            <a:pPr>
              <a:spcAft>
                <a:spcPts val="8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Create a placement matrix with business owner sign-off and update it after each assessment cycle.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Sources: Microsoft Learn start-here and AVS landing-zone guidance, reinforced by eBook pages 14-16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2144"/>
                </a:solidFill>
                <a:latin typeface="Aptos Display"/>
              </a:defRPr>
            </a:pPr>
            <a:r>
              <a:t>Recommended 90-day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  <a:latin typeface="Aptos"/>
              </a:defRPr>
            </a:pPr>
            <a:r>
              <a:t>Use this as the working close for stakeholder alignment and next-step ownership.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3246120" cy="2011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144"/>
                </a:solidFill>
                <a:latin typeface="Aptos"/>
              </a:defRPr>
            </a:pPr>
            <a:r>
              <a:t>Days 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06040"/>
            <a:ext cx="2880360" cy="246888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Create or confirm the Azure Migrate project and collect RVTools or appliance-based discovery data.</a:t>
            </a:r>
          </a:p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Segment workloads into AVS candidates, Azure-native modernization candidates, VDI candidates, and stay-on-premises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920240"/>
            <a:ext cx="3246120" cy="20116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2402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144"/>
                </a:solidFill>
                <a:latin typeface="Aptos"/>
              </a:defRPr>
            </a:pPr>
            <a:r>
              <a:t>Days 31-60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606040"/>
            <a:ext cx="2880360" cy="246888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Build the business case, validate landing zone assumptions, and request quotas for target subscriptions.</a:t>
            </a:r>
          </a:p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Run readiness assessments and choose a pilot wave with rollback criteria.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2024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20240"/>
            <a:ext cx="3246120" cy="2011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2402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144"/>
                </a:solidFill>
                <a:latin typeface="Aptos"/>
              </a:defRPr>
            </a:pPr>
            <a:r>
              <a:t>Days 61-90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06040"/>
            <a:ext cx="2880360" cy="246888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Execute the pilot migration, validate operations, and refine cutover runbooks.</a:t>
            </a:r>
          </a:p>
          <a:p>
            <a:pPr>
              <a:spcAft>
                <a:spcPts val="800"/>
              </a:spcAft>
              <a:defRPr sz="1400">
                <a:solidFill>
                  <a:srgbClr val="1C252C"/>
                </a:solidFill>
                <a:latin typeface="Aptos"/>
              </a:defRPr>
            </a:pPr>
            <a:r>
              <a:t>Approve factory-wave sequencing, decommission plans, and modernization backlog ownership.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Recommended action plan synthesized from the eBook and Microsoft Learn VMware migration workflow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Source references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45920"/>
            <a:ext cx="10241280" cy="4389120"/>
          </a:xfrm>
          <a:prstGeom prst="rect">
            <a:avLst/>
          </a:prstGeom>
          <a:noFill/>
        </p:spPr>
        <p:txBody>
          <a:bodyPr wrap="square" lIns="76200" tIns="50800" rIns="76200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The Ultimate Guide to VMware Migration and Modernization on Azure, Microsoft eBook, 2025.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Microsoft Learn: Start here to migrate from VMware to Azure.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Microsoft Learn: Build a business case with Azure Migrate.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Microsoft Learn: Plan and analyze VMware migrations using Azure Copilot migration agent.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Microsoft Learn / Cloud Adoption Framework: Migrate workloads for Azure VMware Solution.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Microsoft Learn / Cloud Adoption Framework: Azure landing zone review for Azure VMware Solution.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Microsoft Learn / Well-Architected Framework: Integrate an Azure VMware Solution workload with Azure landing zones.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Microsoft Learn / Well-Architected Framework: Azure VMware Solution workloads overview.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0"/>
            <a:ext cx="11475720" cy="13716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8961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  <a:latin typeface="Aptos"/>
              </a:defRPr>
            </a:pPr>
            <a:r>
              <a:t>Presentation created in azure_arc_vsphere_jumpstart for reuse and further customization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3916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3A4A5B"/>
                </a:solidFill>
                <a:latin typeface="Aptos"/>
              </a:defRPr>
            </a:pPr>
            <a:r>
              <a:t>arcjumpstart | Azure Arc vSphere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6863</TotalTime>
  <Words>2245</Words>
  <Application>Microsoft Office PowerPoint</Application>
  <PresentationFormat>Widescreen</PresentationFormat>
  <Paragraphs>219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Girish Pillai</cp:lastModifiedBy>
  <cp:revision>2</cp:revision>
  <dcterms:created xsi:type="dcterms:W3CDTF">2013-01-27T09:14:16Z</dcterms:created>
  <dcterms:modified xsi:type="dcterms:W3CDTF">2026-04-12T19:19:37Z</dcterms:modified>
  <cp:category/>
</cp:coreProperties>
</file>