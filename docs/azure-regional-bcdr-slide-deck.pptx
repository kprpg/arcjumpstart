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B2C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B2C5B"/>
                </a:solidFill>
                <a:latin typeface="Aptos Display"/>
              </a:rPr>
              <a:t>Azure US East 2 Relocation and BCDR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4592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>
                <a:solidFill>
                  <a:srgbClr val="606770"/>
                </a:solidFill>
                <a:latin typeface="Aptos"/>
              </a:rPr>
              <a:t>Planning for datacenter, regional, and wide-area East Coast disruption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43000"/>
            <a:ext cx="1280160" cy="731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06770"/>
                </a:solidFill>
                <a:latin typeface="Apto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B2C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B2C5B"/>
                </a:solidFill>
                <a:latin typeface="Aptos Display"/>
              </a:rPr>
              <a:t>Why This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1732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212529"/>
                </a:solidFill>
                <a:latin typeface="Aptos"/>
              </a:defRPr>
            </a:pPr>
            <a:r>
              <a:t>The scenario is not a routine outage or a standard DR exercise.</a:t>
            </a:r>
          </a:p>
          <a:p>
            <a:pPr>
              <a:spcAft>
                <a:spcPts val="1000"/>
              </a:spcAft>
              <a:defRPr sz="2200">
                <a:solidFill>
                  <a:srgbClr val="212529"/>
                </a:solidFill>
                <a:latin typeface="Aptos"/>
              </a:defRPr>
            </a:pPr>
            <a:r>
              <a:t>The customer is planning for loss of US East 2 or a wider East Coast operating disruption.</a:t>
            </a:r>
          </a:p>
          <a:p>
            <a:pPr>
              <a:spcAft>
                <a:spcPts val="1000"/>
              </a:spcAft>
              <a:defRPr sz="2200">
                <a:solidFill>
                  <a:srgbClr val="212529"/>
                </a:solidFill>
                <a:latin typeface="Aptos"/>
              </a:defRPr>
            </a:pPr>
            <a:r>
              <a:t>A US East 2-only resilience strategy is not sufficient for that threat model.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43000"/>
            <a:ext cx="1280160" cy="731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06770"/>
                </a:solidFill>
                <a:latin typeface="Apto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B2C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B2C5B"/>
                </a:solidFill>
                <a:latin typeface="Aptos Display"/>
              </a:rPr>
              <a:t>The Three Failure Scopes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1732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212529"/>
                </a:solidFill>
                <a:latin typeface="Aptos"/>
              </a:defRPr>
            </a:pPr>
            <a:r>
              <a:t>Single datacenter or availability-zone failure.</a:t>
            </a:r>
          </a:p>
          <a:p>
            <a:pPr>
              <a:spcAft>
                <a:spcPts val="1000"/>
              </a:spcAft>
              <a:defRPr sz="2200">
                <a:solidFill>
                  <a:srgbClr val="212529"/>
                </a:solidFill>
                <a:latin typeface="Aptos"/>
              </a:defRPr>
            </a:pPr>
            <a:r>
              <a:t>Single-region failure in US East 2.</a:t>
            </a:r>
          </a:p>
          <a:p>
            <a:pPr>
              <a:spcAft>
                <a:spcPts val="1000"/>
              </a:spcAft>
              <a:defRPr sz="2200">
                <a:solidFill>
                  <a:srgbClr val="212529"/>
                </a:solidFill>
                <a:latin typeface="Aptos"/>
              </a:defRPr>
            </a:pPr>
            <a:r>
              <a:t>Wider East Coast disruption affecting connectivity or the operating model.</a:t>
            </a:r>
          </a:p>
          <a:p>
            <a:pPr>
              <a:spcAft>
                <a:spcPts val="1000"/>
              </a:spcAft>
              <a:defRPr sz="2200">
                <a:solidFill>
                  <a:srgbClr val="212529"/>
                </a:solidFill>
                <a:latin typeface="Aptos"/>
              </a:defRPr>
            </a:pPr>
            <a:r>
              <a:t>Each failure scope requires a different control set.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43000"/>
            <a:ext cx="1280160" cy="731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06770"/>
                </a:solidFill>
                <a:latin typeface="Apto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B2C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B2C5B"/>
                </a:solidFill>
                <a:latin typeface="Aptos Display"/>
              </a:rPr>
              <a:t>Core Message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1732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212529"/>
                </a:solidFill>
                <a:latin typeface="Aptos"/>
              </a:defRPr>
            </a:pPr>
            <a:r>
              <a:t>Availability zones help with facility-level failures.</a:t>
            </a:r>
          </a:p>
          <a:p>
            <a:pPr>
              <a:spcAft>
                <a:spcPts val="1000"/>
              </a:spcAft>
              <a:defRPr sz="2200">
                <a:solidFill>
                  <a:srgbClr val="212529"/>
                </a:solidFill>
                <a:latin typeface="Aptos"/>
              </a:defRPr>
            </a:pPr>
            <a:r>
              <a:t>Regional recovery patterns help with some region-level failures.</a:t>
            </a:r>
          </a:p>
          <a:p>
            <a:pPr>
              <a:spcAft>
                <a:spcPts val="1000"/>
              </a:spcAft>
              <a:defRPr sz="2200">
                <a:solidFill>
                  <a:srgbClr val="212529"/>
                </a:solidFill>
                <a:latin typeface="Aptos"/>
              </a:defRPr>
            </a:pPr>
            <a:r>
              <a:t>Neither solves for loss of the broader East Coast operating geography.</a:t>
            </a:r>
          </a:p>
          <a:p>
            <a:pPr>
              <a:spcAft>
                <a:spcPts val="1000"/>
              </a:spcAft>
              <a:defRPr sz="2200">
                <a:solidFill>
                  <a:srgbClr val="212529"/>
                </a:solidFill>
                <a:latin typeface="Aptos"/>
              </a:defRPr>
            </a:pPr>
            <a:r>
              <a:t>The hedge for that scenario is another geography.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43000"/>
            <a:ext cx="1280160" cy="731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06770"/>
                </a:solidFill>
                <a:latin typeface="Apto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B2C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B2C5B"/>
                </a:solidFill>
                <a:latin typeface="Aptos Display"/>
              </a:rPr>
              <a:t>Recommended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1732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212529"/>
                </a:solidFill>
                <a:latin typeface="Aptos"/>
              </a:defRPr>
            </a:pPr>
            <a:r>
              <a:t>Use multi-zone resilience inside the primary region.</a:t>
            </a:r>
          </a:p>
          <a:p>
            <a:pPr>
              <a:spcAft>
                <a:spcPts val="1000"/>
              </a:spcAft>
              <a:defRPr sz="2200">
                <a:solidFill>
                  <a:srgbClr val="212529"/>
                </a:solidFill>
                <a:latin typeface="Aptos"/>
              </a:defRPr>
            </a:pPr>
            <a:r>
              <a:t>Use cross-region recovery for regional outages.</a:t>
            </a:r>
          </a:p>
          <a:p>
            <a:pPr>
              <a:spcAft>
                <a:spcPts val="1000"/>
              </a:spcAft>
              <a:defRPr sz="2200">
                <a:solidFill>
                  <a:srgbClr val="212529"/>
                </a:solidFill>
                <a:latin typeface="Aptos"/>
              </a:defRPr>
            </a:pPr>
            <a:r>
              <a:t>Use cross-geography recovery outside the East Coast blast radius.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43000"/>
            <a:ext cx="1280160" cy="731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06770"/>
                </a:solidFill>
                <a:latin typeface="Apto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B2C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B2C5B"/>
                </a:solidFill>
                <a:latin typeface="Aptos Display"/>
              </a:rPr>
              <a:t>What Good Looks Like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1732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212529"/>
                </a:solidFill>
                <a:latin typeface="Aptos"/>
              </a:defRPr>
            </a:pPr>
            <a:r>
              <a:t>No single-instance production services.</a:t>
            </a:r>
          </a:p>
          <a:p>
            <a:pPr>
              <a:spcAft>
                <a:spcPts val="1000"/>
              </a:spcAft>
              <a:defRPr sz="2200">
                <a:solidFill>
                  <a:srgbClr val="212529"/>
                </a:solidFill>
                <a:latin typeface="Aptos"/>
              </a:defRPr>
            </a:pPr>
            <a:r>
              <a:t>A DR environment exists before the crisis, not after.</a:t>
            </a:r>
          </a:p>
          <a:p>
            <a:pPr>
              <a:spcAft>
                <a:spcPts val="1000"/>
              </a:spcAft>
              <a:defRPr sz="2200">
                <a:solidFill>
                  <a:srgbClr val="212529"/>
                </a:solidFill>
                <a:latin typeface="Aptos"/>
              </a:defRPr>
            </a:pPr>
            <a:r>
              <a:t>Data services replicate across regions.</a:t>
            </a:r>
          </a:p>
          <a:p>
            <a:pPr>
              <a:spcAft>
                <a:spcPts val="1000"/>
              </a:spcAft>
              <a:defRPr sz="2200">
                <a:solidFill>
                  <a:srgbClr val="212529"/>
                </a:solidFill>
                <a:latin typeface="Aptos"/>
              </a:defRPr>
            </a:pPr>
            <a:r>
              <a:t>The application entry point supports controlled failover.</a:t>
            </a:r>
          </a:p>
          <a:p>
            <a:pPr>
              <a:spcAft>
                <a:spcPts val="1000"/>
              </a:spcAft>
              <a:defRPr sz="2200">
                <a:solidFill>
                  <a:srgbClr val="212529"/>
                </a:solidFill>
                <a:latin typeface="Aptos"/>
              </a:defRPr>
            </a:pPr>
            <a:r>
              <a:t>Runbooks and recovery artifacts remain available outside the primary geography.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43000"/>
            <a:ext cx="1280160" cy="731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06770"/>
                </a:solidFill>
                <a:latin typeface="Apto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B2C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B2C5B"/>
                </a:solidFill>
                <a:latin typeface="Aptos Display"/>
              </a:rPr>
              <a:t>Region 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1732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212529"/>
                </a:solidFill>
                <a:latin typeface="Aptos"/>
              </a:defRPr>
            </a:pPr>
            <a:r>
              <a:t>US East 2 plus Central US: default paired-region DR.</a:t>
            </a:r>
          </a:p>
          <a:p>
            <a:pPr>
              <a:spcAft>
                <a:spcPts val="1000"/>
              </a:spcAft>
              <a:defRPr sz="2200">
                <a:solidFill>
                  <a:srgbClr val="212529"/>
                </a:solidFill>
                <a:latin typeface="Aptos"/>
              </a:defRPr>
            </a:pPr>
            <a:r>
              <a:t>US East 2 plus South Central US: lower-latency compromise.</a:t>
            </a:r>
          </a:p>
          <a:p>
            <a:pPr>
              <a:spcAft>
                <a:spcPts val="1000"/>
              </a:spcAft>
              <a:defRPr sz="2200">
                <a:solidFill>
                  <a:srgbClr val="212529"/>
                </a:solidFill>
                <a:latin typeface="Aptos"/>
              </a:defRPr>
            </a:pPr>
            <a:r>
              <a:t>US East 2 plus West US 2 or West US 3: strongest geographic hedge.</a:t>
            </a:r>
          </a:p>
          <a:p>
            <a:pPr>
              <a:spcAft>
                <a:spcPts val="1000"/>
              </a:spcAft>
              <a:defRPr sz="2200">
                <a:solidFill>
                  <a:srgbClr val="212529"/>
                </a:solidFill>
                <a:latin typeface="Aptos"/>
              </a:defRPr>
            </a:pPr>
            <a:r>
              <a:t>Central US primary plus US East 2 secondary: strong relocation option.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43000"/>
            <a:ext cx="1280160" cy="731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06770"/>
                </a:solidFill>
                <a:latin typeface="Apto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B2C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B2C5B"/>
                </a:solidFill>
                <a:latin typeface="Aptos Display"/>
              </a:rPr>
              <a:t>Recommendation by Scenario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1732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212529"/>
                </a:solidFill>
                <a:latin typeface="Aptos"/>
              </a:defRPr>
            </a:pPr>
            <a:r>
              <a:t>If the customer wants conventional DR, use Central US as the DR region now.</a:t>
            </a:r>
          </a:p>
          <a:p>
            <a:pPr>
              <a:spcAft>
                <a:spcPts val="1000"/>
              </a:spcAft>
              <a:defRPr sz="2200">
                <a:solidFill>
                  <a:srgbClr val="212529"/>
                </a:solidFill>
                <a:latin typeface="Aptos"/>
              </a:defRPr>
            </a:pPr>
            <a:r>
              <a:t>If the customer wants a stronger East Coast hedge, use West US 2 or West US 3.</a:t>
            </a:r>
          </a:p>
          <a:p>
            <a:pPr>
              <a:spcAft>
                <a:spcPts val="1000"/>
              </a:spcAft>
              <a:defRPr sz="2200">
                <a:solidFill>
                  <a:srgbClr val="212529"/>
                </a:solidFill>
                <a:latin typeface="Aptos"/>
              </a:defRPr>
            </a:pPr>
            <a:r>
              <a:t>If the customer wants to reduce East Coast concentration further, evaluate Central US as a future primary.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43000"/>
            <a:ext cx="1280160" cy="731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06770"/>
                </a:solidFill>
                <a:latin typeface="Apto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B2C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B2C5B"/>
                </a:solidFill>
                <a:latin typeface="Aptos Display"/>
              </a:rPr>
              <a:t>Technical 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1732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212529"/>
                </a:solidFill>
                <a:latin typeface="Aptos"/>
              </a:defRPr>
            </a:pPr>
            <a:r>
              <a:t>Azure Front Door or Traffic Manager for failover routing.</a:t>
            </a:r>
          </a:p>
          <a:p>
            <a:pPr>
              <a:spcAft>
                <a:spcPts val="1000"/>
              </a:spcAft>
              <a:defRPr sz="2200">
                <a:solidFill>
                  <a:srgbClr val="212529"/>
                </a:solidFill>
                <a:latin typeface="Aptos"/>
              </a:defRPr>
            </a:pPr>
            <a:r>
              <a:t>Azure Site Recovery for VM-based workloads.</a:t>
            </a:r>
          </a:p>
          <a:p>
            <a:pPr>
              <a:spcAft>
                <a:spcPts val="1000"/>
              </a:spcAft>
              <a:defRPr sz="2200">
                <a:solidFill>
                  <a:srgbClr val="212529"/>
                </a:solidFill>
                <a:latin typeface="Aptos"/>
              </a:defRPr>
            </a:pPr>
            <a:r>
              <a:t>Native geo-replication for PaaS data services.</a:t>
            </a:r>
          </a:p>
          <a:p>
            <a:pPr>
              <a:spcAft>
                <a:spcPts val="1000"/>
              </a:spcAft>
              <a:defRPr sz="2200">
                <a:solidFill>
                  <a:srgbClr val="212529"/>
                </a:solidFill>
                <a:latin typeface="Aptos"/>
              </a:defRPr>
            </a:pPr>
            <a:r>
              <a:t>A secondary landing zone with networking, identity, logging, and secrets prebuilt.</a:t>
            </a:r>
          </a:p>
          <a:p>
            <a:pPr>
              <a:spcAft>
                <a:spcPts val="1000"/>
              </a:spcAft>
              <a:defRPr sz="2200">
                <a:solidFill>
                  <a:srgbClr val="212529"/>
                </a:solidFill>
                <a:latin typeface="Aptos"/>
              </a:defRPr>
            </a:pPr>
            <a:r>
              <a:t>Immutable backups and tested restore procedures.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43000"/>
            <a:ext cx="1280160" cy="731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06770"/>
                </a:solidFill>
                <a:latin typeface="Apto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B2C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B2C5B"/>
                </a:solidFill>
                <a:latin typeface="Aptos Display"/>
              </a:rPr>
              <a:t>What Not to Assume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1732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212529"/>
                </a:solidFill>
                <a:latin typeface="Aptos"/>
              </a:defRPr>
            </a:pPr>
            <a:r>
              <a:t>Region pairing is not automatic DR.</a:t>
            </a:r>
          </a:p>
          <a:p>
            <a:pPr>
              <a:spcAft>
                <a:spcPts val="1000"/>
              </a:spcAft>
              <a:defRPr sz="2200">
                <a:solidFill>
                  <a:srgbClr val="212529"/>
                </a:solidFill>
                <a:latin typeface="Aptos"/>
              </a:defRPr>
            </a:pPr>
            <a:r>
              <a:t>Platform-managed storage failover is not a full application recovery plan.</a:t>
            </a:r>
          </a:p>
          <a:p>
            <a:pPr>
              <a:spcAft>
                <a:spcPts val="1000"/>
              </a:spcAft>
              <a:defRPr sz="2200">
                <a:solidFill>
                  <a:srgbClr val="212529"/>
                </a:solidFill>
                <a:latin typeface="Aptos"/>
              </a:defRPr>
            </a:pPr>
            <a:r>
              <a:t>Backups alone are not a business continuity strategy.</a:t>
            </a:r>
          </a:p>
          <a:p>
            <a:pPr>
              <a:spcAft>
                <a:spcPts val="1000"/>
              </a:spcAft>
              <a:defRPr sz="2200">
                <a:solidFill>
                  <a:srgbClr val="212529"/>
                </a:solidFill>
                <a:latin typeface="Aptos"/>
              </a:defRPr>
            </a:pPr>
            <a:r>
              <a:t>A second east-side region does not fully hedge a wider East Coast disruption.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43000"/>
            <a:ext cx="1280160" cy="731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06770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B2C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B2C5B"/>
                </a:solidFill>
                <a:latin typeface="Aptos Display"/>
              </a:rPr>
              <a:t>Decision Matrix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463040"/>
          <a:ext cx="1097280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6217920"/>
              </a:tblGrid>
              <a:tr h="7162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Option</a:t>
                      </a:r>
                    </a:p>
                  </a:txBody>
                  <a:tcPr>
                    <a:solidFill>
                      <a:srgbClr val="0B2C5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Position</a:t>
                      </a:r>
                    </a:p>
                  </a:txBody>
                  <a:tcPr>
                    <a:solidFill>
                      <a:srgbClr val="0B2C5B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12529"/>
                          </a:solidFill>
                          <a:latin typeface="Aptos"/>
                        </a:defRPr>
                      </a:pPr>
                      <a:r>
                        <a:t>US East 2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12529"/>
                          </a:solidFill>
                          <a:latin typeface="Aptos"/>
                        </a:defRPr>
                      </a:pPr>
                      <a:r>
                        <a:t>Not sufficient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12529"/>
                          </a:solidFill>
                          <a:latin typeface="Aptos"/>
                        </a:defRPr>
                      </a:pPr>
                      <a:r>
                        <a:t>US East 2 plus Central US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12529"/>
                          </a:solidFill>
                          <a:latin typeface="Aptos"/>
                        </a:defRPr>
                      </a:pPr>
                      <a:r>
                        <a:t>Recommended default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12529"/>
                          </a:solidFill>
                          <a:latin typeface="Aptos"/>
                        </a:defRPr>
                      </a:pPr>
                      <a:r>
                        <a:t>US East 2 plus South Central 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12529"/>
                          </a:solidFill>
                          <a:latin typeface="Aptos"/>
                        </a:defRPr>
                      </a:pPr>
                      <a:r>
                        <a:t>Reasonable compromise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12529"/>
                          </a:solidFill>
                          <a:latin typeface="Aptos"/>
                        </a:defRPr>
                      </a:pPr>
                      <a:r>
                        <a:t>US East 2 plus West US 2 or West US 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12529"/>
                          </a:solidFill>
                          <a:latin typeface="Aptos"/>
                        </a:defRPr>
                      </a:pPr>
                      <a:r>
                        <a:t>Recommended for stronger separation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12529"/>
                          </a:solidFill>
                          <a:latin typeface="Aptos"/>
                        </a:defRPr>
                      </a:pPr>
                      <a:r>
                        <a:t>Central US primary plus US East 2 secondary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12529"/>
                          </a:solidFill>
                          <a:latin typeface="Aptos"/>
                        </a:defRPr>
                      </a:pPr>
                      <a:r>
                        <a:t>Strong relocation option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40080" y="1143000"/>
            <a:ext cx="1280160" cy="731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06770"/>
                </a:solidFill>
                <a:latin typeface="Apto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B2C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B2C5B"/>
                </a:solidFill>
                <a:latin typeface="Aptos Display"/>
              </a:rPr>
              <a:t>Recommended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1732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212529"/>
                </a:solidFill>
                <a:latin typeface="Aptos"/>
              </a:defRPr>
            </a:pPr>
            <a:r>
              <a:t>Confirm data residency constraints.</a:t>
            </a:r>
          </a:p>
          <a:p>
            <a:pPr>
              <a:spcAft>
                <a:spcPts val="1000"/>
              </a:spcAft>
              <a:defRPr sz="2200">
                <a:solidFill>
                  <a:srgbClr val="212529"/>
                </a:solidFill>
                <a:latin typeface="Aptos"/>
              </a:defRPr>
            </a:pPr>
            <a:r>
              <a:t>Define RTO and RPO by workload tier.</a:t>
            </a:r>
          </a:p>
          <a:p>
            <a:pPr>
              <a:spcAft>
                <a:spcPts val="1000"/>
              </a:spcAft>
              <a:defRPr sz="2200">
                <a:solidFill>
                  <a:srgbClr val="212529"/>
                </a:solidFill>
                <a:latin typeface="Aptos"/>
              </a:defRPr>
            </a:pPr>
            <a:r>
              <a:t>Select the target DR geography.</a:t>
            </a:r>
          </a:p>
          <a:p>
            <a:pPr>
              <a:spcAft>
                <a:spcPts val="1000"/>
              </a:spcAft>
              <a:defRPr sz="2200">
                <a:solidFill>
                  <a:srgbClr val="212529"/>
                </a:solidFill>
                <a:latin typeface="Aptos"/>
              </a:defRPr>
            </a:pPr>
            <a:r>
              <a:t>Validate region service availability and quota.</a:t>
            </a:r>
          </a:p>
          <a:p>
            <a:pPr>
              <a:spcAft>
                <a:spcPts val="1000"/>
              </a:spcAft>
              <a:defRPr sz="2200">
                <a:solidFill>
                  <a:srgbClr val="212529"/>
                </a:solidFill>
                <a:latin typeface="Aptos"/>
              </a:defRPr>
            </a:pPr>
            <a:r>
              <a:t>Build the secondary landing zone.</a:t>
            </a:r>
          </a:p>
          <a:p>
            <a:pPr>
              <a:spcAft>
                <a:spcPts val="1000"/>
              </a:spcAft>
              <a:defRPr sz="2200">
                <a:solidFill>
                  <a:srgbClr val="212529"/>
                </a:solidFill>
                <a:latin typeface="Aptos"/>
              </a:defRPr>
            </a:pPr>
            <a:r>
              <a:t>Implement replication and failover.</a:t>
            </a:r>
          </a:p>
          <a:p>
            <a:pPr>
              <a:spcAft>
                <a:spcPts val="1000"/>
              </a:spcAft>
              <a:defRPr sz="2200">
                <a:solidFill>
                  <a:srgbClr val="212529"/>
                </a:solidFill>
                <a:latin typeface="Aptos"/>
              </a:defRPr>
            </a:pPr>
            <a:r>
              <a:t>Run a real DR exercise.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43000"/>
            <a:ext cx="1280160" cy="731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06770"/>
                </a:solidFill>
                <a:latin typeface="Apto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B2C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B2C5B"/>
                </a:solidFill>
                <a:latin typeface="Aptos Display"/>
              </a:rPr>
              <a:t>Leadership Decision Required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1732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212529"/>
                </a:solidFill>
                <a:latin typeface="Aptos"/>
              </a:defRPr>
            </a:pPr>
            <a:r>
              <a:t>Maximum resilience with a cross-geography design.</a:t>
            </a:r>
          </a:p>
          <a:p>
            <a:pPr>
              <a:spcAft>
                <a:spcPts val="1000"/>
              </a:spcAft>
              <a:defRPr sz="2200">
                <a:solidFill>
                  <a:srgbClr val="212529"/>
                </a:solidFill>
                <a:latin typeface="Aptos"/>
              </a:defRPr>
            </a:pPr>
            <a:r>
              <a:t>Lower latency with a compromise design.</a:t>
            </a:r>
          </a:p>
          <a:p>
            <a:pPr>
              <a:spcAft>
                <a:spcPts val="1000"/>
              </a:spcAft>
              <a:defRPr sz="2200">
                <a:solidFill>
                  <a:srgbClr val="212529"/>
                </a:solidFill>
                <a:latin typeface="Aptos"/>
              </a:defRPr>
            </a:pPr>
            <a:r>
              <a:t>East Coast concentration with accepted residual wide-area risk.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43000"/>
            <a:ext cx="1280160" cy="731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06770"/>
                </a:solidFill>
                <a:latin typeface="Apto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B2C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B2C5B"/>
                </a:solidFill>
                <a:latin typeface="Aptos Display"/>
              </a:rPr>
              <a:t>Closing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1732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212529"/>
                </a:solidFill>
                <a:latin typeface="Aptos"/>
              </a:defRPr>
            </a:pPr>
            <a:r>
              <a:t>If the organization is truly planning for the loss of US East 2 or a wider East Coast operating disruption, the correct hedge is another geography, not just another zone in US East 2.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43000"/>
            <a:ext cx="1280160" cy="731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06770"/>
                </a:solidFill>
                <a:latin typeface="Aptos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